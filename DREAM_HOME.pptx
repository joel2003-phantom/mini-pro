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8" r:id="rId12"/>
    <p:sldId id="265" r:id="rId13"/>
    <p:sldId id="279" r:id="rId14"/>
    <p:sldId id="272" r:id="rId15"/>
    <p:sldId id="273" r:id="rId16"/>
    <p:sldId id="274" r:id="rId17"/>
    <p:sldId id="275" r:id="rId18"/>
    <p:sldId id="276" r:id="rId19"/>
    <p:sldId id="277" r:id="rId20"/>
    <p:sldId id="267" r:id="rId21"/>
    <p:sldId id="268" r:id="rId22"/>
    <p:sldId id="269" r:id="rId23"/>
    <p:sldId id="270" r:id="rId24"/>
    <p:sldId id="271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82173" autoAdjust="0"/>
  </p:normalViewPr>
  <p:slideViewPr>
    <p:cSldViewPr snapToGrid="0" snapToObjects="1">
      <p:cViewPr varScale="1">
        <p:scale>
          <a:sx n="82" d="100"/>
          <a:sy n="82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7315200" cy="7315200"/>
          </a:xfrm>
          <a:prstGeom prst="ellipse">
            <a:avLst/>
          </a:prstGeom>
          <a:solidFill>
            <a:srgbClr val="141D33"/>
          </a:solidFill>
        </p:spPr>
      </p:sp>
      <p:sp>
        <p:nvSpPr>
          <p:cNvPr id="3" name="Shape 1"/>
          <p:cNvSpPr/>
          <p:nvPr/>
        </p:nvSpPr>
        <p:spPr>
          <a:xfrm>
            <a:off x="-2743200" y="4206240"/>
            <a:ext cx="5943600" cy="5943600"/>
          </a:xfrm>
          <a:prstGeom prst="ellipse">
            <a:avLst/>
          </a:prstGeom>
          <a:solidFill>
            <a:srgbClr val="141D33"/>
          </a:solidFill>
        </p:spPr>
      </p:sp>
      <p:sp>
        <p:nvSpPr>
          <p:cNvPr id="4" name="Shape 2"/>
          <p:cNvSpPr/>
          <p:nvPr/>
        </p:nvSpPr>
        <p:spPr>
          <a:xfrm>
            <a:off x="888275" y="1925139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E8963C"/>
          </a:solidFill>
        </p:spPr>
      </p:sp>
      <p:sp>
        <p:nvSpPr>
          <p:cNvPr id="5" name="Text 3"/>
          <p:cNvSpPr/>
          <p:nvPr/>
        </p:nvSpPr>
        <p:spPr>
          <a:xfrm>
            <a:off x="888275" y="1925139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A4A"/>
                </a:solidFill>
              </a:rPr>
              <a:t>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DREAM HOME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Designing Dream Homes with Artificial Intelligence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AI-assisted platform for personalized house design, layout planning, and visualization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19050">
            <a:solidFill>
              <a:srgbClr val="E896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Shape 3"/>
          <p:cNvSpPr/>
          <p:nvPr/>
        </p:nvSpPr>
        <p:spPr>
          <a:xfrm>
            <a:off x="548640" y="1828800"/>
            <a:ext cx="69494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7" name="Text 5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135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Designing a home traditionally requires architects, engineers, and specialized CAD software.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384048" cy="384048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0" name="Text 8"/>
          <p:cNvSpPr/>
          <p:nvPr/>
        </p:nvSpPr>
        <p:spPr>
          <a:xfrm>
            <a:off x="868680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135" dirty="0"/>
          </a:p>
        </p:txBody>
      </p:sp>
      <p:sp>
        <p:nvSpPr>
          <p:cNvPr id="11" name="Text 9"/>
          <p:cNvSpPr/>
          <p:nvPr/>
        </p:nvSpPr>
        <p:spPr>
          <a:xfrm>
            <a:off x="1417320" y="306324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design tools demand technical expertise most homeowners simply don't have.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3" name="Text 11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135" dirty="0"/>
          </a:p>
        </p:txBody>
      </p:sp>
      <p:sp>
        <p:nvSpPr>
          <p:cNvPr id="14" name="Text 12"/>
          <p:cNvSpPr/>
          <p:nvPr/>
        </p:nvSpPr>
        <p:spPr>
          <a:xfrm>
            <a:off x="1417320" y="402336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process is slow, expensive, and offers little room for real-time personalization.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5029200"/>
            <a:ext cx="384048" cy="384048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6" name="Text 14"/>
          <p:cNvSpPr/>
          <p:nvPr/>
        </p:nvSpPr>
        <p:spPr>
          <a:xfrm>
            <a:off x="868680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135" dirty="0"/>
          </a:p>
        </p:txBody>
      </p:sp>
      <p:sp>
        <p:nvSpPr>
          <p:cNvPr id="17" name="Text 15"/>
          <p:cNvSpPr/>
          <p:nvPr/>
        </p:nvSpPr>
        <p:spPr>
          <a:xfrm>
            <a:off x="1417320" y="498348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struggle to visualize how their preferences (style, layout, budget) translate into an actual design.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0" y="1828800"/>
            <a:ext cx="3886200" cy="4206240"/>
          </a:xfrm>
          <a:prstGeom prst="roundRect">
            <a:avLst>
              <a:gd name="adj" fmla="val 2824"/>
            </a:avLst>
          </a:prstGeom>
          <a:solidFill>
            <a:srgbClr val="1E2A4A"/>
          </a:solidFill>
        </p:spPr>
      </p:sp>
      <p:sp>
        <p:nvSpPr>
          <p:cNvPr id="19" name="Text 17"/>
          <p:cNvSpPr/>
          <p:nvPr/>
        </p:nvSpPr>
        <p:spPr>
          <a:xfrm>
            <a:off x="8092440" y="228600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“How can homeowners without</a:t>
            </a:r>
            <a:endParaRPr lang="en-US" sz="1700" dirty="0"/>
          </a:p>
          <a:p>
            <a:pPr marL="0" indent="0" algn="l">
              <a:buNone/>
            </a:pPr>
            <a:r>
              <a:rPr lang="en-US" sz="17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technical skills design a house</a:t>
            </a:r>
            <a:endParaRPr lang="en-US" sz="1700" dirty="0"/>
          </a:p>
          <a:p>
            <a:pPr marL="0" indent="0" algn="l">
              <a:buNone/>
            </a:pPr>
            <a:r>
              <a:rPr lang="en-US" sz="17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that truly fits their life?”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92440" y="4663440"/>
            <a:ext cx="914400" cy="0"/>
          </a:xfrm>
          <a:prstGeom prst="line">
            <a:avLst/>
          </a:prstGeom>
          <a:noFill/>
          <a:ln w="25400">
            <a:solidFill>
              <a:srgbClr val="E896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48463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question driving this 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AIM TO ACHIEVE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Shape 3"/>
          <p:cNvSpPr/>
          <p:nvPr/>
        </p:nvSpPr>
        <p:spPr>
          <a:xfrm>
            <a:off x="59436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</a:t>
            </a:r>
            <a:endParaRPr lang="en-US" sz="1485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Simplify Design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house design accessible to users with no architectural background.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</a:t>
            </a:r>
            <a:endParaRPr lang="en-US" sz="1485" dirty="0"/>
          </a:p>
        </p:txBody>
      </p:sp>
      <p:sp>
        <p:nvSpPr>
          <p:cNvPr id="13" name="Text 11"/>
          <p:cNvSpPr/>
          <p:nvPr/>
        </p:nvSpPr>
        <p:spPr>
          <a:xfrm>
            <a:off x="5303520" y="2075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AI-Driven Assistance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AI to interpret preferences and generate layout suggestions automatically.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103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7" name="Text 15"/>
          <p:cNvSpPr/>
          <p:nvPr/>
        </p:nvSpPr>
        <p:spPr>
          <a:xfrm>
            <a:off x="8503920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🎨</a:t>
            </a:r>
            <a:endParaRPr lang="en-US" sz="1485" dirty="0"/>
          </a:p>
        </p:txBody>
      </p:sp>
      <p:sp>
        <p:nvSpPr>
          <p:cNvPr id="18" name="Text 16"/>
          <p:cNvSpPr/>
          <p:nvPr/>
        </p:nvSpPr>
        <p:spPr>
          <a:xfrm>
            <a:off x="9144000" y="2075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Personalization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users customize style, layout, and budget to fit their real needs.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2" name="Text 20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👁</a:t>
            </a:r>
            <a:endParaRPr lang="en-US" sz="1485" dirty="0"/>
          </a:p>
        </p:txBody>
      </p:sp>
      <p:sp>
        <p:nvSpPr>
          <p:cNvPr id="23" name="Text 21"/>
          <p:cNvSpPr/>
          <p:nvPr/>
        </p:nvSpPr>
        <p:spPr>
          <a:xfrm>
            <a:off x="1463040" y="4361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Visualization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clear visual representations of generated house designs.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4389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7" name="Text 25"/>
          <p:cNvSpPr/>
          <p:nvPr/>
        </p:nvSpPr>
        <p:spPr>
          <a:xfrm>
            <a:off x="4663440" y="4389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</a:t>
            </a:r>
            <a:endParaRPr lang="en-US" sz="1485" dirty="0"/>
          </a:p>
        </p:txBody>
      </p:sp>
      <p:sp>
        <p:nvSpPr>
          <p:cNvPr id="28" name="Text 26"/>
          <p:cNvSpPr/>
          <p:nvPr/>
        </p:nvSpPr>
        <p:spPr>
          <a:xfrm>
            <a:off x="5303520" y="4361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Save Time &amp; Cost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63440" y="5029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 down the time and expense of early-stage design iterations.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7532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03920" y="4389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2" name="Text 30"/>
          <p:cNvSpPr/>
          <p:nvPr/>
        </p:nvSpPr>
        <p:spPr>
          <a:xfrm>
            <a:off x="8503920" y="4389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</a:t>
            </a:r>
            <a:endParaRPr lang="en-US" sz="1485" dirty="0"/>
          </a:p>
        </p:txBody>
      </p:sp>
      <p:sp>
        <p:nvSpPr>
          <p:cNvPr id="33" name="Text 31"/>
          <p:cNvSpPr/>
          <p:nvPr/>
        </p:nvSpPr>
        <p:spPr>
          <a:xfrm>
            <a:off x="9144000" y="4361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503920" y="5029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system that adapts to a wide range of user needs and property types.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BOUNDARIES OF 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FF6EC"/>
          </a:solidFill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AI-assisted layout and style suggestions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18211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User input of preferences: budget, rooms, style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803904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2D/visual representation of generated designs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425696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Web-based front-end for design interaction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04748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Basic customization and iteration workflow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22392" cy="4206240"/>
          </a:xfrm>
          <a:prstGeom prst="roundRect">
            <a:avLst>
              <a:gd name="adj" fmla="val 2609"/>
            </a:avLst>
          </a:prstGeom>
          <a:solidFill>
            <a:srgbClr val="FBEEEC"/>
          </a:solidFill>
        </p:spPr>
      </p:sp>
      <p:sp>
        <p:nvSpPr>
          <p:cNvPr id="13" name="Text 11"/>
          <p:cNvSpPr/>
          <p:nvPr/>
        </p:nvSpPr>
        <p:spPr>
          <a:xfrm>
            <a:off x="6537960" y="20574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5603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Structural / civil engineering calculations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182112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Legal approvals and building-code compliance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803904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Full 3D photorealistic rendering (future work)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425696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On-site construction management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504748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Interior furniture procurement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OTHERS HAVE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26517F-F73B-FDC0-D34B-6B46BD927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705946"/>
              </p:ext>
            </p:extLst>
          </p:nvPr>
        </p:nvGraphicFramePr>
        <p:xfrm>
          <a:off x="713232" y="1535862"/>
          <a:ext cx="10671048" cy="5139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508">
                  <a:extLst>
                    <a:ext uri="{9D8B030D-6E8A-4147-A177-3AD203B41FA5}">
                      <a16:colId xmlns:a16="http://schemas.microsoft.com/office/drawing/2014/main" val="2623488942"/>
                    </a:ext>
                  </a:extLst>
                </a:gridCol>
                <a:gridCol w="1778508">
                  <a:extLst>
                    <a:ext uri="{9D8B030D-6E8A-4147-A177-3AD203B41FA5}">
                      <a16:colId xmlns:a16="http://schemas.microsoft.com/office/drawing/2014/main" val="662848315"/>
                    </a:ext>
                  </a:extLst>
                </a:gridCol>
                <a:gridCol w="1778508">
                  <a:extLst>
                    <a:ext uri="{9D8B030D-6E8A-4147-A177-3AD203B41FA5}">
                      <a16:colId xmlns:a16="http://schemas.microsoft.com/office/drawing/2014/main" val="635222793"/>
                    </a:ext>
                  </a:extLst>
                </a:gridCol>
                <a:gridCol w="1778508">
                  <a:extLst>
                    <a:ext uri="{9D8B030D-6E8A-4147-A177-3AD203B41FA5}">
                      <a16:colId xmlns:a16="http://schemas.microsoft.com/office/drawing/2014/main" val="525100869"/>
                    </a:ext>
                  </a:extLst>
                </a:gridCol>
                <a:gridCol w="1778508">
                  <a:extLst>
                    <a:ext uri="{9D8B030D-6E8A-4147-A177-3AD203B41FA5}">
                      <a16:colId xmlns:a16="http://schemas.microsoft.com/office/drawing/2014/main" val="2633742230"/>
                    </a:ext>
                  </a:extLst>
                </a:gridCol>
                <a:gridCol w="1778508">
                  <a:extLst>
                    <a:ext uri="{9D8B030D-6E8A-4147-A177-3AD203B41FA5}">
                      <a16:colId xmlns:a16="http://schemas.microsoft.com/office/drawing/2014/main" val="3852927539"/>
                    </a:ext>
                  </a:extLst>
                </a:gridCol>
              </a:tblGrid>
              <a:tr h="467066">
                <a:tc>
                  <a:txBody>
                    <a:bodyPr/>
                    <a:lstStyle/>
                    <a:p>
                      <a:r>
                        <a:rPr lang="en-IN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31742"/>
                  </a:ext>
                </a:extLst>
              </a:tr>
              <a:tr h="770055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Graph2Plan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Ruizhen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Hu et al.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2020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Graph2Plan using GNNs and CNNs to generate floor plans from layout graphs.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Realistic layouts; preserves room adjacency.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Needs graph input and large datasets.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554684"/>
                  </a:ext>
                </a:extLst>
              </a:tr>
              <a:tr h="746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HouseLLM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Ziyang Zong et al.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2024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HouseLLM combines LLMs with conditional diffusion for text-to-floor plan generation.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Natural language input; high-quality layouts.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Computationally expensive; refinement required.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58697525"/>
                  </a:ext>
                </a:extLst>
              </a:tr>
              <a:tr h="746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HouseMind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Sizhong Qin et al.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2026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HouseMind uses multimodal LLMs with room-instance tokenization.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Generation, editing and understanding in one framework.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Requires large multimodal training.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86849867"/>
                  </a:ext>
                </a:extLst>
              </a:tr>
              <a:tr h="826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House-GAN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Nauata et al.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2020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House-GAN uses Generative Adversarial Networks to synthesize floor plans from graph constraints.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Fast generation and realistic room layouts.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May generate invalid geometries; training instability.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46970947"/>
                  </a:ext>
                </a:extLst>
              </a:tr>
              <a:tr h="58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FLNet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Li et al.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2022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FLNet applies graph-constrained deep learning for floor layout generation.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Good spatial consistency and user constraint handling.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Performance depends on training data quality.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26672418"/>
                  </a:ext>
                </a:extLst>
              </a:tr>
              <a:tr h="746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DeepFloorplan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Hu et al.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b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</a:b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2021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DeepFloorplan uses CNN-based image processing for floor plan segmentation and reconstruction.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Accurate wall and room detection from images.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Less effective on noisy or complex plans.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387351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THINGS STAND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Text 3"/>
          <p:cNvSpPr/>
          <p:nvPr/>
        </p:nvSpPr>
        <p:spPr>
          <a:xfrm>
            <a:off x="548640" y="15087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design workflows and standard design software both fall short for the everyday homeowner.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5394960" cy="685800"/>
          </a:xfrm>
          <a:prstGeom prst="rect">
            <a:avLst/>
          </a:prstGeom>
          <a:solidFill>
            <a:srgbClr val="1E2A4A"/>
          </a:solidFill>
        </p:spPr>
      </p:sp>
      <p:sp>
        <p:nvSpPr>
          <p:cNvPr id="8" name="Text 6"/>
          <p:cNvSpPr/>
          <p:nvPr/>
        </p:nvSpPr>
        <p:spPr>
          <a:xfrm>
            <a:off x="822960" y="210312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Traditional Architectural Process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274320" cy="274320"/>
          </a:xfrm>
          <a:prstGeom prst="ellipse">
            <a:avLst/>
          </a:prstGeom>
          <a:solidFill>
            <a:srgbClr val="F7D9B0"/>
          </a:solidFill>
        </p:spPr>
      </p:sp>
      <p:sp>
        <p:nvSpPr>
          <p:cNvPr id="10" name="Text 8"/>
          <p:cNvSpPr/>
          <p:nvPr/>
        </p:nvSpPr>
        <p:spPr>
          <a:xfrm>
            <a:off x="822960" y="30632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234440" y="301752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hiring a professional architect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274320" cy="274320"/>
          </a:xfrm>
          <a:prstGeom prst="ellipse">
            <a:avLst/>
          </a:prstGeom>
          <a:solidFill>
            <a:srgbClr val="F7D9B0"/>
          </a:solidFill>
        </p:spPr>
      </p:sp>
      <p:sp>
        <p:nvSpPr>
          <p:cNvPr id="13" name="Text 11"/>
          <p:cNvSpPr/>
          <p:nvPr/>
        </p:nvSpPr>
        <p:spPr>
          <a:xfrm>
            <a:off x="822960" y="3977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manual revision cycles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92040"/>
            <a:ext cx="274320" cy="274320"/>
          </a:xfrm>
          <a:prstGeom prst="ellipse">
            <a:avLst/>
          </a:prstGeom>
          <a:solidFill>
            <a:srgbClr val="F7D9B0"/>
          </a:solidFill>
        </p:spPr>
      </p:sp>
      <p:sp>
        <p:nvSpPr>
          <p:cNvPr id="16" name="Text 14"/>
          <p:cNvSpPr/>
          <p:nvPr/>
        </p:nvSpPr>
        <p:spPr>
          <a:xfrm>
            <a:off x="822960" y="48920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1234440" y="484632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cost and long turnaround 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21031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103120"/>
            <a:ext cx="5394960" cy="685800"/>
          </a:xfrm>
          <a:prstGeom prst="rect">
            <a:avLst/>
          </a:prstGeom>
          <a:solidFill>
            <a:srgbClr val="1E2A4A"/>
          </a:solidFill>
        </p:spPr>
      </p:sp>
      <p:sp>
        <p:nvSpPr>
          <p:cNvPr id="20" name="Text 18"/>
          <p:cNvSpPr/>
          <p:nvPr/>
        </p:nvSpPr>
        <p:spPr>
          <a:xfrm>
            <a:off x="6537960" y="210312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Standard CAD / Design Software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3063240"/>
            <a:ext cx="274320" cy="274320"/>
          </a:xfrm>
          <a:prstGeom prst="ellipse">
            <a:avLst/>
          </a:prstGeom>
          <a:solidFill>
            <a:srgbClr val="F7D9B0"/>
          </a:solidFill>
        </p:spPr>
      </p:sp>
      <p:sp>
        <p:nvSpPr>
          <p:cNvPr id="22" name="Text 20"/>
          <p:cNvSpPr/>
          <p:nvPr/>
        </p:nvSpPr>
        <p:spPr>
          <a:xfrm>
            <a:off x="6537960" y="30632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6949440" y="301752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Powerful but built for trained professionals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977640"/>
            <a:ext cx="274320" cy="274320"/>
          </a:xfrm>
          <a:prstGeom prst="ellipse">
            <a:avLst/>
          </a:prstGeom>
          <a:solidFill>
            <a:srgbClr val="F7D9B0"/>
          </a:solidFill>
        </p:spPr>
      </p:sp>
      <p:sp>
        <p:nvSpPr>
          <p:cNvPr id="25" name="Text 23"/>
          <p:cNvSpPr/>
          <p:nvPr/>
        </p:nvSpPr>
        <p:spPr>
          <a:xfrm>
            <a:off x="6537960" y="3977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6949440" y="393192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adaptive or intelligent suggestions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4892040"/>
            <a:ext cx="274320" cy="274320"/>
          </a:xfrm>
          <a:prstGeom prst="ellipse">
            <a:avLst/>
          </a:prstGeom>
          <a:solidFill>
            <a:srgbClr val="F7D9B0"/>
          </a:solidFill>
        </p:spPr>
      </p:sp>
      <p:sp>
        <p:nvSpPr>
          <p:cNvPr id="28" name="Text 26"/>
          <p:cNvSpPr/>
          <p:nvPr/>
        </p:nvSpPr>
        <p:spPr>
          <a:xfrm>
            <a:off x="6537960" y="48920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6949440" y="484632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personalization for non-experts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Text 3"/>
          <p:cNvSpPr/>
          <p:nvPr/>
        </p:nvSpPr>
        <p:spPr>
          <a:xfrm>
            <a:off x="548640" y="15087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AI-driven platform that guides users end-to-end — from preferences to a visualized design.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7340" y="2560320"/>
            <a:ext cx="548640" cy="54864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8" name="Text 6"/>
          <p:cNvSpPr/>
          <p:nvPr/>
        </p:nvSpPr>
        <p:spPr>
          <a:xfrm>
            <a:off x="1577340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Capture Preferences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21488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Layout, style, budget, and functional needs collected from the user.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2968" y="3474720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63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10712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9412" y="2560320"/>
            <a:ext cx="548640" cy="54864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4" name="Text 12"/>
          <p:cNvSpPr/>
          <p:nvPr/>
        </p:nvSpPr>
        <p:spPr>
          <a:xfrm>
            <a:off x="4439412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3593592" y="33375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9312" y="3886200"/>
            <a:ext cx="21488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models process inputs and identify suitable design patterns.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474720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63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72784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1484" y="2560320"/>
            <a:ext cx="548640" cy="54864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20" name="Text 18"/>
          <p:cNvSpPr/>
          <p:nvPr/>
        </p:nvSpPr>
        <p:spPr>
          <a:xfrm>
            <a:off x="7301484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20" dirty="0"/>
          </a:p>
        </p:txBody>
      </p:sp>
      <p:sp>
        <p:nvSpPr>
          <p:cNvPr id="21" name="Text 19"/>
          <p:cNvSpPr/>
          <p:nvPr/>
        </p:nvSpPr>
        <p:spPr>
          <a:xfrm>
            <a:off x="6455664" y="33375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Suggestions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01384" y="3886200"/>
            <a:ext cx="21488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recommends layouts and design elements matched to input.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97112" y="3474720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63C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34856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A4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63556" y="2560320"/>
            <a:ext cx="548640" cy="54864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26" name="Text 24"/>
          <p:cNvSpPr/>
          <p:nvPr/>
        </p:nvSpPr>
        <p:spPr>
          <a:xfrm>
            <a:off x="10163556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9317736" y="33375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63456" y="3886200"/>
            <a:ext cx="21488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receives a clear visual representation of the proposed house.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Casa de Ensueño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IT ACHIEVABLE?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Feasibility Study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Shape 3"/>
          <p:cNvSpPr/>
          <p:nvPr/>
        </p:nvSpPr>
        <p:spPr>
          <a:xfrm>
            <a:off x="59436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286000"/>
            <a:ext cx="685800" cy="68580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/>
          <p:nvPr/>
        </p:nvSpPr>
        <p:spPr>
          <a:xfrm>
            <a:off x="2011680" y="22860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Technical Feasibility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 mature, well-supported web and AI frameworks; team has the required skill set to implement and integrate them.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2286000"/>
            <a:ext cx="685800" cy="68580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5852160" y="22860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Economic Feasibility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09160" y="3794760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Relies on open-source tools and cloud services, keeping development cost low relative to project scope.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92640" y="2286000"/>
            <a:ext cx="685800" cy="68580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7" name="Text 15"/>
          <p:cNvSpPr/>
          <p:nvPr/>
        </p:nvSpPr>
        <p:spPr>
          <a:xfrm>
            <a:off x="9692640" y="22860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8503920" y="31546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Operational Feasibility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49640" y="3794760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Simple, guided user interface requires no training; fits naturally into how users already plan a home.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486400" cy="5486400"/>
          </a:xfrm>
          <a:prstGeom prst="ellipse">
            <a:avLst/>
          </a:prstGeom>
          <a:solidFill>
            <a:srgbClr val="141D33"/>
          </a:solidFill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41D33"/>
          </a:solidFill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448CD2-0430-CFE2-B998-4E953FB8F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490" y="1164460"/>
            <a:ext cx="5866497" cy="5169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Wireframe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47" name="Text 4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0931"/>
            <a:ext cx="10767060" cy="4860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Wireframe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47" name="Text 4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64" y="1543049"/>
            <a:ext cx="10801350" cy="49594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Wireframe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47" name="Text 4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5608"/>
            <a:ext cx="11207931" cy="50992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DFD – Level 0</a:t>
            </a:r>
            <a:endParaRPr lang="en-US" sz="2600" dirty="0"/>
          </a:p>
        </p:txBody>
      </p:sp>
      <p:pic>
        <p:nvPicPr>
          <p:cNvPr id="3" name="Image 0" descr="imgs/10001536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888" y="914400"/>
            <a:ext cx="85039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DFD – Level 1</a:t>
            </a:r>
            <a:endParaRPr lang="en-US" sz="2600" dirty="0"/>
          </a:p>
        </p:txBody>
      </p:sp>
      <p:pic>
        <p:nvPicPr>
          <p:cNvPr id="3" name="Image 0" descr="imgs/10001536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811" y="914400"/>
            <a:ext cx="708407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 Diagram</a:t>
            </a:r>
            <a:endParaRPr lang="en-US" sz="2600" dirty="0"/>
          </a:p>
        </p:txBody>
      </p:sp>
      <p:pic>
        <p:nvPicPr>
          <p:cNvPr id="3" name="Image 0" descr="imgs/10001536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888" y="914400"/>
            <a:ext cx="85039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Case Diagram</a:t>
            </a:r>
            <a:endParaRPr lang="en-US" sz="2600" dirty="0"/>
          </a:p>
        </p:txBody>
      </p:sp>
      <p:pic>
        <p:nvPicPr>
          <p:cNvPr id="3" name="Image 0" descr="imgs/10001536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888" y="914400"/>
            <a:ext cx="85039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State Diagram</a:t>
            </a:r>
            <a:endParaRPr lang="en-US" sz="2600" dirty="0"/>
          </a:p>
        </p:txBody>
      </p:sp>
      <p:pic>
        <p:nvPicPr>
          <p:cNvPr id="3" name="Image 0" descr="imgs/10001536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09" y="914400"/>
            <a:ext cx="53146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 Diagram</a:t>
            </a:r>
            <a:endParaRPr lang="en-US" sz="2600" dirty="0"/>
          </a:p>
        </p:txBody>
      </p:sp>
      <p:pic>
        <p:nvPicPr>
          <p:cNvPr id="3" name="Image 0" descr="imgs/10001536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888" y="914400"/>
            <a:ext cx="85039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— Agile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Shape 3"/>
          <p:cNvSpPr/>
          <p:nvPr/>
        </p:nvSpPr>
        <p:spPr>
          <a:xfrm>
            <a:off x="1143000" y="2697480"/>
            <a:ext cx="9509760" cy="0"/>
          </a:xfrm>
          <a:prstGeom prst="line">
            <a:avLst/>
          </a:prstGeom>
          <a:noFill/>
          <a:ln w="25400">
            <a:solidFill>
              <a:srgbClr val="E7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7" name="Text 5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9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Sprint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3154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gathering &amp; research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review, problem definition, objective setting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2377440"/>
            <a:ext cx="640080" cy="64008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3" name="Text 11"/>
          <p:cNvSpPr/>
          <p:nvPr/>
        </p:nvSpPr>
        <p:spPr>
          <a:xfrm>
            <a:off x="3474720" y="2377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90" dirty="0"/>
          </a:p>
        </p:txBody>
      </p:sp>
      <p:sp>
        <p:nvSpPr>
          <p:cNvPr id="14" name="Text 12"/>
          <p:cNvSpPr/>
          <p:nvPr/>
        </p:nvSpPr>
        <p:spPr>
          <a:xfrm>
            <a:off x="3200400" y="3154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3566160"/>
            <a:ext cx="3154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&amp; architecture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91840" y="420624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architecture, wireframes, UML modeling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640080" cy="64008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9" name="Text 17"/>
          <p:cNvSpPr/>
          <p:nvPr/>
        </p:nvSpPr>
        <p:spPr>
          <a:xfrm>
            <a:off x="6126480" y="2377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90" dirty="0"/>
          </a:p>
        </p:txBody>
      </p:sp>
      <p:sp>
        <p:nvSpPr>
          <p:cNvPr id="20" name="Text 18"/>
          <p:cNvSpPr/>
          <p:nvPr/>
        </p:nvSpPr>
        <p:spPr>
          <a:xfrm>
            <a:off x="5852160" y="3154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Sprint 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06440" y="3566160"/>
            <a:ext cx="3154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development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0" y="420624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Front-end build-out, AI module integration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78240" y="2377440"/>
            <a:ext cx="640080" cy="64008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25" name="Text 23"/>
          <p:cNvSpPr/>
          <p:nvPr/>
        </p:nvSpPr>
        <p:spPr>
          <a:xfrm>
            <a:off x="8778240" y="2377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90" dirty="0"/>
          </a:p>
        </p:txBody>
      </p:sp>
      <p:sp>
        <p:nvSpPr>
          <p:cNvPr id="26" name="Text 24"/>
          <p:cNvSpPr/>
          <p:nvPr/>
        </p:nvSpPr>
        <p:spPr>
          <a:xfrm>
            <a:off x="8503920" y="3154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Sprint 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58200" y="3566160"/>
            <a:ext cx="3154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refinement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95360" y="420624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Feasibility validation, user feedback, iteration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BLOCKS OF 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Shape 3"/>
          <p:cNvSpPr/>
          <p:nvPr/>
        </p:nvSpPr>
        <p:spPr>
          <a:xfrm>
            <a:off x="59436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</a:t>
            </a:r>
            <a:endParaRPr lang="en-US" sz="1485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Management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Registration, login, and profile/preferences storage.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</a:t>
            </a:r>
            <a:endParaRPr lang="en-US" sz="1485" dirty="0"/>
          </a:p>
        </p:txBody>
      </p:sp>
      <p:sp>
        <p:nvSpPr>
          <p:cNvPr id="13" name="Text 11"/>
          <p:cNvSpPr/>
          <p:nvPr/>
        </p:nvSpPr>
        <p:spPr>
          <a:xfrm>
            <a:off x="5303520" y="2075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Preference Input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layout, style, budget, and functional requirements.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103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7" name="Text 15"/>
          <p:cNvSpPr/>
          <p:nvPr/>
        </p:nvSpPr>
        <p:spPr>
          <a:xfrm>
            <a:off x="8503920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</a:t>
            </a:r>
            <a:endParaRPr lang="en-US" sz="1485" dirty="0"/>
          </a:p>
        </p:txBody>
      </p:sp>
      <p:sp>
        <p:nvSpPr>
          <p:cNvPr id="18" name="Text 16"/>
          <p:cNvSpPr/>
          <p:nvPr/>
        </p:nvSpPr>
        <p:spPr>
          <a:xfrm>
            <a:off x="9144000" y="2075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Design Engine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AI logic that analyzes input and generates suggestions.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2" name="Text 20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🏠</a:t>
            </a:r>
            <a:endParaRPr lang="en-US" sz="1485" dirty="0"/>
          </a:p>
        </p:txBody>
      </p:sp>
      <p:sp>
        <p:nvSpPr>
          <p:cNvPr id="23" name="Text 21"/>
          <p:cNvSpPr/>
          <p:nvPr/>
        </p:nvSpPr>
        <p:spPr>
          <a:xfrm>
            <a:off x="1463040" y="4361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Layout Generator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optimized house layouts based on AI recommendations.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4389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7" name="Text 25"/>
          <p:cNvSpPr/>
          <p:nvPr/>
        </p:nvSpPr>
        <p:spPr>
          <a:xfrm>
            <a:off x="4663440" y="4389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🖼</a:t>
            </a:r>
            <a:endParaRPr lang="en-US" sz="1485" dirty="0"/>
          </a:p>
        </p:txBody>
      </p:sp>
      <p:sp>
        <p:nvSpPr>
          <p:cNvPr id="28" name="Text 26"/>
          <p:cNvSpPr/>
          <p:nvPr/>
        </p:nvSpPr>
        <p:spPr>
          <a:xfrm>
            <a:off x="5303520" y="4361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63440" y="5029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Renders visual representations of the generated design.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76200" dist="25400" dir="5400000" algn="bl" rotWithShape="0">
              <a:srgbClr val="1E2A4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03920" y="43891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2" name="Text 30"/>
          <p:cNvSpPr/>
          <p:nvPr/>
        </p:nvSpPr>
        <p:spPr>
          <a:xfrm>
            <a:off x="8503920" y="4389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</a:t>
            </a:r>
            <a:endParaRPr lang="en-US" sz="1485" dirty="0"/>
          </a:p>
        </p:txBody>
      </p:sp>
      <p:sp>
        <p:nvSpPr>
          <p:cNvPr id="33" name="Text 31"/>
          <p:cNvSpPr/>
          <p:nvPr/>
        </p:nvSpPr>
        <p:spPr>
          <a:xfrm>
            <a:off x="9144000" y="43616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Save &amp; Export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503920" y="502920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Allows users to store, revisit, and export finished designs.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486400" cy="5486400"/>
          </a:xfrm>
          <a:prstGeom prst="ellipse">
            <a:avLst/>
          </a:prstGeom>
          <a:solidFill>
            <a:srgbClr val="141D33"/>
          </a:solidFill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41D33"/>
          </a:solidFill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POWERS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15168" y="2133014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41D33"/>
          </a:solidFill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6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47856" y="2133014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41D33"/>
          </a:solidFill>
        </p:spPr>
      </p:sp>
      <p:sp>
        <p:nvSpPr>
          <p:cNvPr id="10" name="Text 8"/>
          <p:cNvSpPr/>
          <p:nvPr/>
        </p:nvSpPr>
        <p:spPr>
          <a:xfrm>
            <a:off x="4572000" y="23317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6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Back-end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488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41D33"/>
          </a:solidFill>
        </p:spPr>
      </p:sp>
      <p:sp>
        <p:nvSpPr>
          <p:cNvPr id="13" name="Text 11"/>
          <p:cNvSpPr/>
          <p:nvPr/>
        </p:nvSpPr>
        <p:spPr>
          <a:xfrm>
            <a:off x="8229600" y="23317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6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&amp; ML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2827606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Python, TensorFlow / scikit-learn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41D33"/>
          </a:solidFill>
        </p:spPr>
      </p:sp>
      <p:sp>
        <p:nvSpPr>
          <p:cNvPr id="16" name="Text 14"/>
          <p:cNvSpPr/>
          <p:nvPr/>
        </p:nvSpPr>
        <p:spPr>
          <a:xfrm>
            <a:off x="914400" y="4206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6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40233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41D33"/>
          </a:solidFill>
        </p:spPr>
      </p:sp>
      <p:sp>
        <p:nvSpPr>
          <p:cNvPr id="19" name="Text 17"/>
          <p:cNvSpPr/>
          <p:nvPr/>
        </p:nvSpPr>
        <p:spPr>
          <a:xfrm>
            <a:off x="4572000" y="4206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6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Tools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6634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Figma (wireframes &amp; UI mockups)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40233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41D33"/>
          </a:solidFill>
        </p:spPr>
      </p:sp>
      <p:sp>
        <p:nvSpPr>
          <p:cNvPr id="22" name="Text 20"/>
          <p:cNvSpPr/>
          <p:nvPr/>
        </p:nvSpPr>
        <p:spPr>
          <a:xfrm>
            <a:off x="8229600" y="4206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6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46634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4571999" y="2910254"/>
            <a:ext cx="1808871" cy="5187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Python / Django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607" y="2956853"/>
            <a:ext cx="2307687" cy="5328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HTML/CSS/Bootstrap/JavaScript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Front-end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 &amp; onboarding screens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60720" y="1993392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E7E9EE"/>
          </a:solidFill>
        </p:spPr>
      </p:sp>
      <p:sp>
        <p:nvSpPr>
          <p:cNvPr id="7" name="Shape 5"/>
          <p:cNvSpPr/>
          <p:nvPr/>
        </p:nvSpPr>
        <p:spPr>
          <a:xfrm>
            <a:off x="5760720" y="1993392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</p:spPr>
      </p:sp>
      <p:sp>
        <p:nvSpPr>
          <p:cNvPr id="8" name="Text 6"/>
          <p:cNvSpPr/>
          <p:nvPr/>
        </p:nvSpPr>
        <p:spPr>
          <a:xfrm>
            <a:off x="10972800" y="194767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Preference input forms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2560320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E7E9EE"/>
          </a:solidFill>
        </p:spPr>
      </p:sp>
      <p:sp>
        <p:nvSpPr>
          <p:cNvPr id="11" name="Shape 9"/>
          <p:cNvSpPr/>
          <p:nvPr/>
        </p:nvSpPr>
        <p:spPr>
          <a:xfrm>
            <a:off x="5760720" y="2560320"/>
            <a:ext cx="4608576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</p:spPr>
      </p:sp>
      <p:sp>
        <p:nvSpPr>
          <p:cNvPr id="12" name="Text 10"/>
          <p:cNvSpPr/>
          <p:nvPr/>
        </p:nvSpPr>
        <p:spPr>
          <a:xfrm>
            <a:off x="10972800" y="25146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09981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 &amp; dashboard shell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3127248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E7E9EE"/>
          </a:solidFill>
        </p:spPr>
      </p:sp>
      <p:sp>
        <p:nvSpPr>
          <p:cNvPr id="15" name="Shape 13"/>
          <p:cNvSpPr/>
          <p:nvPr/>
        </p:nvSpPr>
        <p:spPr>
          <a:xfrm>
            <a:off x="5760720" y="3127248"/>
            <a:ext cx="4352544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</p:spPr>
      </p:sp>
      <p:sp>
        <p:nvSpPr>
          <p:cNvPr id="16" name="Text 14"/>
          <p:cNvSpPr/>
          <p:nvPr/>
        </p:nvSpPr>
        <p:spPr>
          <a:xfrm>
            <a:off x="10972800" y="308152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66674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canvas / preview UI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60720" y="3694176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E7E9EE"/>
          </a:solidFill>
        </p:spPr>
      </p:sp>
      <p:sp>
        <p:nvSpPr>
          <p:cNvPr id="19" name="Shape 17"/>
          <p:cNvSpPr/>
          <p:nvPr/>
        </p:nvSpPr>
        <p:spPr>
          <a:xfrm>
            <a:off x="5760720" y="3694176"/>
            <a:ext cx="3072384" cy="256032"/>
          </a:xfrm>
          <a:prstGeom prst="roundRect">
            <a:avLst>
              <a:gd name="adj" fmla="val 21429"/>
            </a:avLst>
          </a:prstGeom>
          <a:solidFill>
            <a:srgbClr val="E8963C"/>
          </a:solidFill>
        </p:spPr>
      </p:sp>
      <p:sp>
        <p:nvSpPr>
          <p:cNvPr id="20" name="Text 18"/>
          <p:cNvSpPr/>
          <p:nvPr/>
        </p:nvSpPr>
        <p:spPr>
          <a:xfrm>
            <a:off x="10972800" y="3648456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3367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suggestion integration (UI side)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60720" y="4261104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E7E9EE"/>
          </a:solidFill>
        </p:spPr>
      </p:sp>
      <p:sp>
        <p:nvSpPr>
          <p:cNvPr id="23" name="Shape 21"/>
          <p:cNvSpPr/>
          <p:nvPr/>
        </p:nvSpPr>
        <p:spPr>
          <a:xfrm>
            <a:off x="5760720" y="4261104"/>
            <a:ext cx="1792224" cy="256032"/>
          </a:xfrm>
          <a:prstGeom prst="roundRect">
            <a:avLst>
              <a:gd name="adj" fmla="val 21429"/>
            </a:avLst>
          </a:prstGeom>
          <a:solidFill>
            <a:srgbClr val="E8963C"/>
          </a:solidFill>
        </p:spPr>
      </p:sp>
      <p:sp>
        <p:nvSpPr>
          <p:cNvPr id="24" name="Text 22"/>
          <p:cNvSpPr/>
          <p:nvPr/>
        </p:nvSpPr>
        <p:spPr>
          <a:xfrm>
            <a:off x="10972800" y="4215384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3F5FA"/>
          </a:solidFill>
        </p:spPr>
      </p:sp>
      <p:sp>
        <p:nvSpPr>
          <p:cNvPr id="26" name="Text 24"/>
          <p:cNvSpPr/>
          <p:nvPr/>
        </p:nvSpPr>
        <p:spPr>
          <a:xfrm>
            <a:off x="822960" y="521208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up: connect the AI suggestion engine end-to-end and add live layout previews to the design canvas.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141D33"/>
          </a:solidFill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Autodesk. (2024). AutoCAD Architecture — Product Documentation. Autodesk Inc.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96312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49631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React. (2024). React — A JavaScript Library for Building User Interfaces. Meta Open Source.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18104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118104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Inc. (2024). MongoDB Manual. MongoDB Documentation.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39896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739896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TensorFlow. (2024). TensorFlow Core Documentation. Google Brain Team.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361688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36168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Nielsen, J. (2020). Usability Engineering Basics. Nielsen Norman Group.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498348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Various authors. (2022–2024). Generative design and AI in architecture — survey of recent literature.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/>
          <p:nvPr/>
        </p:nvSpPr>
        <p:spPr>
          <a:xfrm>
            <a:off x="1051560" y="498348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Box 17"/>
          <p:cNvSpPr txBox="1"/>
          <p:nvPr/>
        </p:nvSpPr>
        <p:spPr>
          <a:xfrm>
            <a:off x="3589020" y="2913380"/>
            <a:ext cx="5166995" cy="1445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5400">
                <a:solidFill>
                  <a:schemeClr val="accent5">
                    <a:lumMod val="40000"/>
                    <a:lumOff val="60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1159</Words>
  <Application>Microsoft Office PowerPoint</Application>
  <PresentationFormat>Widescreen</PresentationFormat>
  <Paragraphs>277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Algerian</vt:lpstr>
      <vt:lpstr>Arial</vt:lpstr>
      <vt:lpstr>Calibri</vt:lpstr>
      <vt:lpstr>Cambria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Anandhu SNair</cp:lastModifiedBy>
  <cp:revision>6</cp:revision>
  <dcterms:created xsi:type="dcterms:W3CDTF">2026-07-30T08:59:00Z</dcterms:created>
  <dcterms:modified xsi:type="dcterms:W3CDTF">2026-08-13T04:21:32Z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268C6A3CE02A4D428F9F7648ED905272_12</vt:lpwstr>
  </property>
</Properties>
</file>